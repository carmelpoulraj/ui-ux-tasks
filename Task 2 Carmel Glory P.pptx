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28415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23026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809068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047749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284091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1543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055772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668463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82387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600877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8484603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96490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8/27/2026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88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1" name="矩形"/>
          <p:cNvSpPr>
            <a:spLocks/>
          </p:cNvSpPr>
          <p:nvPr/>
        </p:nvSpPr>
        <p:spPr>
          <a:xfrm rot="0">
            <a:off x="594360" y="201168"/>
            <a:ext cx="3388181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Design Review Report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777240" y="1234440"/>
            <a:ext cx="10698479" cy="13487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Duolingo Mobile Application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UI / UX Design Review</a:t>
            </a:r>
            <a:endParaRPr lang="en-US" altLang="zh-CN" sz="20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Name: Carmel glory P Register No : 261626</a:t>
            </a:r>
            <a:endParaRPr lang="zh-CN" altLang="en-US" sz="20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11352911" y="6473951"/>
            <a:ext cx="259968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</a:t>
            </a:r>
            <a:endParaRPr lang="zh-CN" altLang="en-US" sz="10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039499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5" name="矩形"/>
          <p:cNvSpPr>
            <a:spLocks/>
          </p:cNvSpPr>
          <p:nvPr/>
        </p:nvSpPr>
        <p:spPr>
          <a:xfrm rot="0">
            <a:off x="594360" y="201168"/>
            <a:ext cx="2334183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Introduction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777240" y="1234440"/>
            <a:ext cx="10698479" cy="25107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Application Selected: Duolingo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Category: Education / Language Learning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Platform: Android and iOS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Purpose: Learn languages through short, interactive lessons and practice activities.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Design goal: Make language learning simple, engaging and motivating.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 rot="0">
            <a:off x="11258320" y="6473951"/>
            <a:ext cx="354559" cy="453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422453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9" name="矩形"/>
          <p:cNvSpPr>
            <a:spLocks/>
          </p:cNvSpPr>
          <p:nvPr/>
        </p:nvSpPr>
        <p:spPr>
          <a:xfrm rot="0">
            <a:off x="594360" y="201168"/>
            <a:ext cx="219229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What is UI?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0" name="矩形"/>
          <p:cNvSpPr>
            <a:spLocks/>
          </p:cNvSpPr>
          <p:nvPr/>
        </p:nvSpPr>
        <p:spPr>
          <a:xfrm rot="0">
            <a:off x="777240" y="1234440"/>
            <a:ext cx="10698479" cy="44157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UI (User Interface) means the visual elements that users see and interact with in an application.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Examples: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Buttons and icons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Colors and typography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Illustrations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Progress bars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Lesson cards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Navigation elements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11258320" y="6473951"/>
            <a:ext cx="354559" cy="453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013487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矩形"/>
          <p:cNvSpPr>
            <a:spLocks/>
          </p:cNvSpPr>
          <p:nvPr/>
        </p:nvSpPr>
        <p:spPr>
          <a:xfrm rot="0">
            <a:off x="594360" y="201168"/>
            <a:ext cx="361114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Duolingo UI Features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777240" y="1234440"/>
            <a:ext cx="10698479" cy="30251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Color: Green is strongly associated with Duolingo’s visual identity.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Typography: Clean, friendly and readable text.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Icons: Simple icons for lessons, hearts/lives, rewards and navigation.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Buttons: Large, clear action buttons make lessons easy to follow.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Layout: Card-based lesson structure with visible progress.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Illustrations: Friendly graphics make the interface more engaging.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5" name="矩形"/>
          <p:cNvSpPr>
            <a:spLocks/>
          </p:cNvSpPr>
          <p:nvPr/>
        </p:nvSpPr>
        <p:spPr>
          <a:xfrm rot="0">
            <a:off x="11258320" y="6473951"/>
            <a:ext cx="354559" cy="453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9876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7" name="矩形"/>
          <p:cNvSpPr>
            <a:spLocks/>
          </p:cNvSpPr>
          <p:nvPr/>
        </p:nvSpPr>
        <p:spPr>
          <a:xfrm rot="0">
            <a:off x="594360" y="201168"/>
            <a:ext cx="2313914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What is UX?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8" name="矩形"/>
          <p:cNvSpPr>
            <a:spLocks/>
          </p:cNvSpPr>
          <p:nvPr/>
        </p:nvSpPr>
        <p:spPr>
          <a:xfrm rot="0">
            <a:off x="777240" y="1234440"/>
            <a:ext cx="10698479" cy="39014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UX (User Experience) means how easy, useful, comfortable and satisfying an application feels when a user interacts with it.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 good learning UX helps the user: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Start a lesson quickly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Understand each question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Receive immediate feedback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Track learning progress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Stay motivated to continue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11258320" y="6473951"/>
            <a:ext cx="354559" cy="453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500649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1" name="矩形"/>
          <p:cNvSpPr>
            <a:spLocks/>
          </p:cNvSpPr>
          <p:nvPr/>
        </p:nvSpPr>
        <p:spPr>
          <a:xfrm rot="0">
            <a:off x="594360" y="201168"/>
            <a:ext cx="3732757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Duolingo UX Features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矩形"/>
          <p:cNvSpPr>
            <a:spLocks/>
          </p:cNvSpPr>
          <p:nvPr/>
        </p:nvSpPr>
        <p:spPr>
          <a:xfrm rot="0">
            <a:off x="777240" y="1234440"/>
            <a:ext cx="10698479" cy="35394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Simple onboarding and language selection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Short lesson flow reduces learning effort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Immediate feedback after answers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Gamification through XP, streaks and rewards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Progress tracking encourages regular practice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Notifications remind users to practise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Familiar visual patterns reduce the learning curve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1258320" y="6473951"/>
            <a:ext cx="354559" cy="4533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872922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5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6. UI vs UX in Duolingo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UI Element → UX Benefit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Green visual identity → Recognizable brand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Lesson cards → Easy content discovery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Progress indicators → Shows learning progress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Answer buttons → Simple interaction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Animations / illustrations → More engaging experience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Rewards and streak indicators → Motivation to continue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343432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9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7. Strengths of Duolingo Design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0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Simple and friendly interface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Highly engaging learning experience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Strong use of gamification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Clear and immediate feedback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Easy progress tracking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6. Consistent visual design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7. Short lessons support quick practice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1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740113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3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8. Weaknesses / Areas for Improvement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4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Frequent notifications may feel distracting.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Repeated exercises can sometimes feel monotonous.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Many game-like elements may overwhelm some users.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Advanced learners may want more flexible learning options.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Some users may prefer more real-world conversation practice.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1594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47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9. Suggested Improvements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8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Improvement 1: Give users stronger control over notification frequency.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Improvement 2: Add more variety to repeated practice activities.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Improvement 3: Provide a clearer advanced-learning mode.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Improvement 4: Add more real-life conversation and speaking scenarios.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Improvement 5: Improve customization of learning goals and practice difficulty.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49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511661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1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10. User Journey Example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2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Goal: Complete a language lesson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1: Open Duolingo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2: Select / continue a language course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3: Choose the next lesson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4: Answer questions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5: Receive feedback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6: Earn XP / reward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↓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Step 7: View progress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3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740756"/>
      </p:ext>
    </p:extLst>
  </p:cSld>
  <p:clrMapOvr>
    <a:masterClrMapping/>
  </p:clrMapOvr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5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11. UX Evaluation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6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Number of major steps: Low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Difficulty: Easy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Feedback: Very good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Learning required: Low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Engagement: Very high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Overall experience: User-friendly and motivating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975052"/>
      </p:ext>
    </p:extLst>
  </p:cSld>
  <p:clrMapOvr>
    <a:masterClrMapping/>
  </p:clrMapOvr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59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12. Overall Design Evaluation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0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Visual Design       ⭐⭐⭐⭐⭐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Ease of Use         ⭐⭐⭐⭐⭐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Navigation          ⭐⭐⭐⭐☆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Accessibility       ⭐⭐⭐⭐☆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Feedback            ⭐⭐⭐⭐⭐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Engagement          ⭐⭐⭐⭐⭐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Feature Organization ⭐⭐⭐⭐☆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Overall UX          ⭐⭐⭐⭐⭐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1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4668"/>
      </p:ext>
    </p:extLst>
  </p:cSld>
  <p:clrMapOvr>
    <a:masterClrMapping/>
  </p:clrMapOvr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3" name="矩形"/>
          <p:cNvSpPr>
            <a:spLocks/>
          </p:cNvSpPr>
          <p:nvPr/>
        </p:nvSpPr>
        <p:spPr>
          <a:xfrm rot="0">
            <a:off x="594360" y="201168"/>
            <a:ext cx="10972800" cy="59436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FFFFFF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13. Conclusion</a:t>
            </a:r>
            <a:endParaRPr lang="zh-CN" altLang="en-US" sz="2800" b="0" i="0" u="none" strike="noStrike" kern="1200" cap="none" spc="0" baseline="0">
              <a:solidFill>
                <a:srgbClr val="FFFFFF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4" name="矩形"/>
          <p:cNvSpPr>
            <a:spLocks/>
          </p:cNvSpPr>
          <p:nvPr/>
        </p:nvSpPr>
        <p:spPr>
          <a:xfrm rot="0">
            <a:off x="777240" y="1234440"/>
            <a:ext cx="10698479" cy="51206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Duolingo is a strong example of user-friendly UI and UX design for mobile learning.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Its friendly visuals, simple lesson flow, immediate feedback, progress tracking and gamification make learning engaging.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Future improvements can focus on notification control, exercise variety, advanced learning flexibility and real-life conversation practice.</a:t>
            </a:r>
            <a:endParaRPr lang="en-US" altLang="zh-CN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2D2D2D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Overall Rating: 4.5 / 5</a:t>
            </a:r>
            <a:endParaRPr lang="zh-CN" altLang="en-US" sz="2400" b="0" i="0" u="none" strike="noStrike" kern="1200" cap="none" spc="0" baseline="0">
              <a:solidFill>
                <a:srgbClr val="2D2D2D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5" name="矩形"/>
          <p:cNvSpPr>
            <a:spLocks/>
          </p:cNvSpPr>
          <p:nvPr/>
        </p:nvSpPr>
        <p:spPr>
          <a:xfrm rot="0">
            <a:off x="10698479" y="6473951"/>
            <a:ext cx="914400" cy="2286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14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83417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F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"/>
          <p:cNvSpPr>
            <a:spLocks/>
          </p:cNvSpPr>
          <p:nvPr/>
        </p:nvSpPr>
        <p:spPr>
          <a:xfrm rot="0">
            <a:off x="0" y="0"/>
            <a:ext cx="12191694" cy="960120"/>
          </a:xfrm>
          <a:prstGeom prst="rect"/>
          <a:solidFill>
            <a:srgbClr val="58CC02"/>
          </a:solidFill>
          <a:ln w="9525" cmpd="sng" cap="flat">
            <a:noFill/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67" name="矩形"/>
          <p:cNvSpPr>
            <a:spLocks/>
          </p:cNvSpPr>
          <p:nvPr/>
        </p:nvSpPr>
        <p:spPr>
          <a:xfrm rot="0">
            <a:off x="914400" y="2057400"/>
            <a:ext cx="10332720" cy="20116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b="0" i="0" u="none" strike="noStrike" kern="1200" cap="none" spc="0" baseline="0">
                <a:solidFill>
                  <a:srgbClr val="58CC02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THANK YOU!</a:t>
            </a:r>
            <a:endParaRPr lang="en-US" altLang="zh-CN" sz="4800" b="0" i="0" u="none" strike="noStrike" kern="1200" cap="none" spc="0" baseline="0">
              <a:solidFill>
                <a:srgbClr val="58CC02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3C3C3C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Duolingo – UI / UX Design Review</a:t>
            </a:r>
            <a:endParaRPr lang="zh-CN" altLang="en-US" sz="2400" b="0" i="0" u="none" strike="noStrike" kern="1200" cap="none" spc="0" baseline="0">
              <a:solidFill>
                <a:srgbClr val="3C3C3C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8" name="矩形"/>
          <p:cNvSpPr>
            <a:spLocks/>
          </p:cNvSpPr>
          <p:nvPr/>
        </p:nvSpPr>
        <p:spPr>
          <a:xfrm rot="0">
            <a:off x="1828800" y="4617720"/>
            <a:ext cx="8503920" cy="73152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4646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Questions &amp; Discussion</a:t>
            </a:r>
            <a:endParaRPr lang="zh-CN" altLang="en-US" sz="2000" b="0" i="0" u="none" strike="noStrike" kern="1200" cap="none" spc="0" baseline="0">
              <a:solidFill>
                <a:srgbClr val="4646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72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1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2026-08-27T10:40:16Z</dcterms:modified>
</cp:coreProperties>
</file>